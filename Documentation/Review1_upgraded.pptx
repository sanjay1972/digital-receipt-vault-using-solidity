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58" r:id="rId2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75" r:id="rId5"/>
    <p:sldId id="278" r:id="rId6"/>
    <p:sldId id="282" r:id="rId7"/>
    <p:sldId id="279" r:id="rId8"/>
    <p:sldId id="288" r:id="rId9"/>
    <p:sldId id="272" r:id="rId10"/>
    <p:sldId id="283" r:id="rId11"/>
    <p:sldId id="276" r:id="rId12"/>
    <p:sldId id="277" r:id="rId13"/>
    <p:sldId id="289" r:id="rId14"/>
    <p:sldId id="293" r:id="rId15"/>
    <p:sldId id="290" r:id="rId16"/>
    <p:sldId id="294" r:id="rId17"/>
    <p:sldId id="295" r:id="rId18"/>
    <p:sldId id="274" r:id="rId19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214308-F0E3-4687-BC59-15A1703D4593}">
  <a:tblStyle styleId="{FE214308-F0E3-4687-BC59-15A1703D459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0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89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>
            <a:extLst>
              <a:ext uri="{FF2B5EF4-FFF2-40B4-BE49-F238E27FC236}">
                <a16:creationId xmlns:a16="http://schemas.microsoft.com/office/drawing/2014/main" id="{4A087E6E-C3E4-1838-EB52-DBDBAC2C9F6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099" name="Date Placeholder 2">
            <a:extLst>
              <a:ext uri="{FF2B5EF4-FFF2-40B4-BE49-F238E27FC236}">
                <a16:creationId xmlns:a16="http://schemas.microsoft.com/office/drawing/2014/main" id="{32D387AF-C3C7-32F9-4B02-1047EA16EE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489D54E8-7B66-4745-9E2F-892DF44CD480}" type="datetimeFigureOut">
              <a:rPr lang="en-IN" altLang="en-US"/>
              <a:pPr/>
              <a:t>17-02-2026</a:t>
            </a:fld>
            <a:endParaRPr lang="en-IN" altLang="en-US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E3582203-20CA-5B8D-5D91-6ADBFA296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F6F6B1D7-18C2-6E58-CC2B-4C7A8BF27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5377F286-5289-4173-8AE7-5049EE6AED1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825E67DA-F13F-6127-EFB0-5058D2FA7DA3}"/>
              </a:ext>
            </a:extLst>
          </p:cNvPr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1325E505-8561-7192-51E7-50A18A58BD21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Google Shape;5;n">
            <a:extLst>
              <a:ext uri="{FF2B5EF4-FFF2-40B4-BE49-F238E27FC236}">
                <a16:creationId xmlns:a16="http://schemas.microsoft.com/office/drawing/2014/main" id="{BF19FB5D-7B50-2C37-7B8F-B7609B43EBE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3028950" y="857250"/>
            <a:ext cx="3086100" cy="2314575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Google Shape;6;n">
            <a:extLst>
              <a:ext uri="{FF2B5EF4-FFF2-40B4-BE49-F238E27FC236}">
                <a16:creationId xmlns:a16="http://schemas.microsoft.com/office/drawing/2014/main" id="{B050CB20-F7AF-2397-F661-27AEBBE6C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3078" name="Google Shape;7;n">
            <a:extLst>
              <a:ext uri="{FF2B5EF4-FFF2-40B4-BE49-F238E27FC236}">
                <a16:creationId xmlns:a16="http://schemas.microsoft.com/office/drawing/2014/main" id="{5E5C5244-1C46-A042-A66B-0677C5E3D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9" name="Google Shape;8;n">
            <a:extLst>
              <a:ext uri="{FF2B5EF4-FFF2-40B4-BE49-F238E27FC236}">
                <a16:creationId xmlns:a16="http://schemas.microsoft.com/office/drawing/2014/main" id="{EBD5431C-A444-BB42-C21A-7A9C0F4C2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33E4715D-7112-4C4A-824A-5BF9CDFD81B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74;g288b46264e5_3_29:notes">
            <a:extLst>
              <a:ext uri="{FF2B5EF4-FFF2-40B4-BE49-F238E27FC236}">
                <a16:creationId xmlns:a16="http://schemas.microsoft.com/office/drawing/2014/main" id="{0B66C9CC-D463-15E3-6FD2-5A0AFCD39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47" name="Google Shape;75;g288b46264e5_3_29:notes">
            <a:extLst>
              <a:ext uri="{FF2B5EF4-FFF2-40B4-BE49-F238E27FC236}">
                <a16:creationId xmlns:a16="http://schemas.microsoft.com/office/drawing/2014/main" id="{61CE2EF6-AA6F-0819-9471-7F38FD86BB3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81;g288b46264e5_3_36:notes">
            <a:extLst>
              <a:ext uri="{FF2B5EF4-FFF2-40B4-BE49-F238E27FC236}">
                <a16:creationId xmlns:a16="http://schemas.microsoft.com/office/drawing/2014/main" id="{EA049629-CB72-4D86-62D0-031794BBA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5" name="Google Shape;82;g288b46264e5_3_36:notes">
            <a:extLst>
              <a:ext uri="{FF2B5EF4-FFF2-40B4-BE49-F238E27FC236}">
                <a16:creationId xmlns:a16="http://schemas.microsoft.com/office/drawing/2014/main" id="{BFA861F8-7572-EFDD-1EE1-7298D6D24B1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41;g288b46264e5_3_87:notes">
            <a:extLst>
              <a:ext uri="{FF2B5EF4-FFF2-40B4-BE49-F238E27FC236}">
                <a16:creationId xmlns:a16="http://schemas.microsoft.com/office/drawing/2014/main" id="{76406F9B-06E0-866E-9937-4FD070528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42;g288b46264e5_3_87:notes">
            <a:extLst>
              <a:ext uri="{FF2B5EF4-FFF2-40B4-BE49-F238E27FC236}">
                <a16:creationId xmlns:a16="http://schemas.microsoft.com/office/drawing/2014/main" id="{F26F629A-4026-A269-B686-BEAF9C084FE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7EF1A3-E842-A25C-61B6-4D7C11DB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41;g288b46264e5_3_87:notes">
            <a:extLst>
              <a:ext uri="{FF2B5EF4-FFF2-40B4-BE49-F238E27FC236}">
                <a16:creationId xmlns:a16="http://schemas.microsoft.com/office/drawing/2014/main" id="{98FDDB5F-D8D3-0507-BC71-BE9EE573C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altLang="en-US" sz="1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42;g288b46264e5_3_87:notes">
            <a:extLst>
              <a:ext uri="{FF2B5EF4-FFF2-40B4-BE49-F238E27FC236}">
                <a16:creationId xmlns:a16="http://schemas.microsoft.com/office/drawing/2014/main" id="{955D24A7-4D87-CF3A-7310-4C02D87EFE5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</p:spPr>
      </p:sp>
    </p:spTree>
    <p:extLst>
      <p:ext uri="{BB962C8B-B14F-4D97-AF65-F5344CB8AC3E}">
        <p14:creationId xmlns:p14="http://schemas.microsoft.com/office/powerpoint/2010/main" val="19842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535EA412-9AE9-B09D-5FD7-FF68A9BD497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D49AA2DD-7FAB-71B0-6C9F-6D97A93609E0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82762E19-53C3-0AC0-A2AE-C026FA790C62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CC1873-A6AA-4300-87CE-4A16458C8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68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C87A5566-3734-C46C-5046-969A95535639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3E8A8021-807B-B607-1F7A-B6B6E38B1E98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47D392A9-462C-EDD8-2DC3-A396B77A759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4ABEC-247E-499B-A795-9C7176EBD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50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61E535F0-625A-5609-FAB2-5FB90ACDCD9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E66EBAE5-2C12-38EA-5A73-78EABA62D4B3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37A20DED-0112-CFED-0EC6-3785455208B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80DC7-5803-4574-B3B2-236B939CFA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8DC4529D-DC0A-E410-8482-EC91A876550B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70389F3-35AB-FF49-E1ED-D325003A0E8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CFE4664B-03E8-F0CA-B930-FFE74B20BEF0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69A69-21A6-44BC-966D-250D792D54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08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9115AC86-0596-8F1B-4D7B-9CEF83C699EE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B86353C-9B12-E451-8A2F-CCFFD39DD8BD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128CF4BF-C19C-9D6C-C35E-8D87DCE906ED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ABC59-3F18-4E96-AE2F-02D64D7AE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49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A6F20AAA-D01C-7582-A832-336EAF52EC62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3BE6DDAF-8F15-B586-6557-5052FE73F308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40AB28BC-3DE1-C41B-2E28-E17A0E68A4F2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379B41-2B4D-437B-89E9-888332C774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42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CA9C6974-CBD4-261D-EE33-3E0D216E3FB8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07DF3FA-DBE4-4133-5312-2B43CA2EB19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6FA829A3-C6CB-ED1E-836D-29612C22236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78E05-B16B-4A6A-87CA-B7EE64BB48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43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AB6A2232-C491-D01C-7F71-D2FEF36C1F2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78E2A974-E2AB-73F6-F83E-53661612590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D2947DB0-1173-9457-0840-BBC79FFE95EC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9B904-7CC3-49A4-A8EC-62CB25BA28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00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0F554B3B-413F-879A-1150-107F8C49A2D0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8B6C3C7-567C-CEB3-1F67-3326CA586CB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80A37682-62E7-9235-5FF9-98D0FCEE415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05186-15D7-40BB-BA65-A9DA32F623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86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;p1">
            <a:extLst>
              <a:ext uri="{FF2B5EF4-FFF2-40B4-BE49-F238E27FC236}">
                <a16:creationId xmlns:a16="http://schemas.microsoft.com/office/drawing/2014/main" id="{8616787A-FE1C-41BA-D33C-D4771079120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Google Shape;11;p1">
            <a:extLst>
              <a:ext uri="{FF2B5EF4-FFF2-40B4-BE49-F238E27FC236}">
                <a16:creationId xmlns:a16="http://schemas.microsoft.com/office/drawing/2014/main" id="{D1E2DAAA-C01D-4FEC-BFEB-63B617B2A62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12;p1">
            <a:extLst>
              <a:ext uri="{FF2B5EF4-FFF2-40B4-BE49-F238E27FC236}">
                <a16:creationId xmlns:a16="http://schemas.microsoft.com/office/drawing/2014/main" id="{D176CC25-F34A-D84A-DD47-78E8750B5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9" name="Google Shape;13;p1">
            <a:extLst>
              <a:ext uri="{FF2B5EF4-FFF2-40B4-BE49-F238E27FC236}">
                <a16:creationId xmlns:a16="http://schemas.microsoft.com/office/drawing/2014/main" id="{59CF9675-52F3-3388-8A26-158CF4DA61D1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Google Shape;14;p1">
            <a:extLst>
              <a:ext uri="{FF2B5EF4-FFF2-40B4-BE49-F238E27FC236}">
                <a16:creationId xmlns:a16="http://schemas.microsoft.com/office/drawing/2014/main" id="{5FF29B22-D3B4-90C0-F812-D240D4D80EB6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1" name="Google Shape;15;p1">
            <a:extLst>
              <a:ext uri="{FF2B5EF4-FFF2-40B4-BE49-F238E27FC236}">
                <a16:creationId xmlns:a16="http://schemas.microsoft.com/office/drawing/2014/main" id="{07AE0BC2-9A26-90E8-A6C2-556B2E178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4DEE32E6-07F2-41A9-8B74-F754181715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45;p7">
            <a:extLst>
              <a:ext uri="{FF2B5EF4-FFF2-40B4-BE49-F238E27FC236}">
                <a16:creationId xmlns:a16="http://schemas.microsoft.com/office/drawing/2014/main" id="{E99226B4-7E58-FA50-0172-78F26B0FF0B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Google Shape;46;p7">
            <a:extLst>
              <a:ext uri="{FF2B5EF4-FFF2-40B4-BE49-F238E27FC236}">
                <a16:creationId xmlns:a16="http://schemas.microsoft.com/office/drawing/2014/main" id="{4EC3270A-CF2D-4F4E-3C22-D6EF558262C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2" name="Google Shape;47;p7">
            <a:extLst>
              <a:ext uri="{FF2B5EF4-FFF2-40B4-BE49-F238E27FC236}">
                <a16:creationId xmlns:a16="http://schemas.microsoft.com/office/drawing/2014/main" id="{3DFD58E3-A894-0F05-DEB2-9D4EA9F02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3" name="Google Shape;48;p7">
            <a:extLst>
              <a:ext uri="{FF2B5EF4-FFF2-40B4-BE49-F238E27FC236}">
                <a16:creationId xmlns:a16="http://schemas.microsoft.com/office/drawing/2014/main" id="{BB4F4245-1BAC-0908-D3FA-1A078DA7EEB4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Google Shape;49;p7">
            <a:extLst>
              <a:ext uri="{FF2B5EF4-FFF2-40B4-BE49-F238E27FC236}">
                <a16:creationId xmlns:a16="http://schemas.microsoft.com/office/drawing/2014/main" id="{AD8823EB-58DC-D156-73EC-9BC6E4B4297E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5" name="Google Shape;50;p7">
            <a:extLst>
              <a:ext uri="{FF2B5EF4-FFF2-40B4-BE49-F238E27FC236}">
                <a16:creationId xmlns:a16="http://schemas.microsoft.com/office/drawing/2014/main" id="{EFB500FB-BB6C-AC9D-A6B9-D995906284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E1FE368C-E44B-4DBA-B21D-B770014598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Google Shape;77;p12">
            <a:extLst>
              <a:ext uri="{FF2B5EF4-FFF2-40B4-BE49-F238E27FC236}">
                <a16:creationId xmlns:a16="http://schemas.microsoft.com/office/drawing/2014/main" id="{E4E8CBDA-F928-9EA5-0630-53303803D37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5606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Google Shape;78;p12">
            <a:extLst>
              <a:ext uri="{FF2B5EF4-FFF2-40B4-BE49-F238E27FC236}">
                <a16:creationId xmlns:a16="http://schemas.microsoft.com/office/drawing/2014/main" id="{717A03EC-C2E4-6804-9A12-2835B6BFC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63617" y="208888"/>
            <a:ext cx="9607617" cy="1305486"/>
          </a:xfrm>
        </p:spPr>
        <p:txBody>
          <a:bodyPr tIns="12700"/>
          <a:lstStyle/>
          <a:p>
            <a:pPr marL="2851150"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Digital Receipt Vault  </a:t>
            </a:r>
            <a:br>
              <a:rPr lang="en-US" sz="2800" dirty="0"/>
            </a:br>
            <a:r>
              <a:rPr lang="en-US" sz="2800" dirty="0"/>
              <a:t>using Blockchain and IPFS</a:t>
            </a: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9597E289-04D1-CBA1-9D40-CD249679F7AE}"/>
              </a:ext>
            </a:extLst>
          </p:cNvPr>
          <p:cNvSpPr txBox="1"/>
          <p:nvPr/>
        </p:nvSpPr>
        <p:spPr>
          <a:xfrm>
            <a:off x="2936591" y="1872811"/>
            <a:ext cx="5943600" cy="4422814"/>
          </a:xfrm>
          <a:prstGeom prst="rect">
            <a:avLst/>
          </a:prstGeom>
          <a:noFill/>
          <a:ln>
            <a:noFill/>
          </a:ln>
        </p:spPr>
        <p:txBody>
          <a:bodyPr wrap="square"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Team Members: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Sanjay S M                 (71762205104)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Sanjeev Singh katal    (71762205106)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Swetha G                    (71762205118)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Tamil Selvan D           (71762205119)</a:t>
            </a:r>
          </a:p>
          <a:p>
            <a:pPr eaLnBrk="1" hangingPunct="1">
              <a:spcBef>
                <a:spcPts val="1425"/>
              </a:spcBef>
              <a:buSzPts val="2000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Department of Computer Science and Engineering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Guided by  </a:t>
            </a:r>
          </a:p>
          <a:p>
            <a:pPr eaLnBrk="1" hangingPunct="1">
              <a:lnSpc>
                <a:spcPct val="150000"/>
              </a:lnSpc>
              <a:buSzPts val="1900"/>
            </a:pPr>
            <a:r>
              <a:rPr lang="en-IN" altLang="en-US" sz="19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Ms. Revathi Manoharan,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Assistant Professor,  </a:t>
            </a:r>
          </a:p>
          <a:p>
            <a:pPr eaLnBrk="1" hangingPunct="1">
              <a:lnSpc>
                <a:spcPct val="150000"/>
              </a:lnSpc>
              <a:buSzPts val="2000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Department of Computer Science and Engineering</a:t>
            </a:r>
          </a:p>
        </p:txBody>
      </p:sp>
      <p:sp>
        <p:nvSpPr>
          <p:cNvPr id="5125" name="Slide Number Placeholder 1">
            <a:extLst>
              <a:ext uri="{FF2B5EF4-FFF2-40B4-BE49-F238E27FC236}">
                <a16:creationId xmlns:a16="http://schemas.microsoft.com/office/drawing/2014/main" id="{75180825-3D2D-2D5A-0982-E762CA98F7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35868F87-CB5A-4452-A685-832E22A9B4F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84;p13">
            <a:extLst>
              <a:ext uri="{FF2B5EF4-FFF2-40B4-BE49-F238E27FC236}">
                <a16:creationId xmlns:a16="http://schemas.microsoft.com/office/drawing/2014/main" id="{EB4F0F1D-F9E6-55ED-FFAE-0B0D91429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785938" cy="512763"/>
          </a:xfrm>
        </p:spPr>
        <p:txBody>
          <a:bodyPr tIns="12700"/>
          <a:lstStyle/>
          <a:p>
            <a:pPr marL="12700"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AGENDA</a:t>
            </a:r>
          </a:p>
        </p:txBody>
      </p:sp>
      <p:sp>
        <p:nvSpPr>
          <p:cNvPr id="7171" name="Google Shape;85;p13">
            <a:extLst>
              <a:ext uri="{FF2B5EF4-FFF2-40B4-BE49-F238E27FC236}">
                <a16:creationId xmlns:a16="http://schemas.microsoft.com/office/drawing/2014/main" id="{01F95EF5-D989-A7CB-CB0B-C05FBA1BD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539" y="1479233"/>
            <a:ext cx="500856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342900" indent="-3429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From Literature Survey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Technology</a:t>
            </a:r>
          </a:p>
          <a:p>
            <a:pPr eaLnBrk="1" hangingPunct="1">
              <a:spcBef>
                <a:spcPts val="475"/>
              </a:spcBef>
              <a:buSzPts val="24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172" name="Slide Number Placeholder 1">
            <a:extLst>
              <a:ext uri="{FF2B5EF4-FFF2-40B4-BE49-F238E27FC236}">
                <a16:creationId xmlns:a16="http://schemas.microsoft.com/office/drawing/2014/main" id="{89BC2642-A9D0-B4E9-1F13-51233092DC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4A5D10EB-BDAF-478F-A937-1BEB23832F47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2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C8C54B2-EB95-3839-7AD9-E211E5270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225" y="242888"/>
            <a:ext cx="7829550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INTRODUCTION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219" name="Text Placeholder 2">
            <a:extLst>
              <a:ext uri="{FF2B5EF4-FFF2-40B4-BE49-F238E27FC236}">
                <a16:creationId xmlns:a16="http://schemas.microsoft.com/office/drawing/2014/main" id="{E6C79C88-C26B-2597-D14E-30CB4E69C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044" y="1394768"/>
            <a:ext cx="8479767" cy="515525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Background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tamper-proof digital receipt system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for decentralized storage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blockchain for immutable verification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Receipts are issued, claimed, and stored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signatures and smart contracts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enables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trustless, third-party verification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receipts, certificates, and documents without relying on a central authority.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Project Domain</a:t>
            </a:r>
          </a:p>
          <a:p>
            <a:pPr marL="571500" indent="-34290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Document Verification System</a:t>
            </a: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Applications of the Project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Receipts &amp; Invoices , Legal &amp; Financial Document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Certificates Verification  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&amp; Background Verification</a:t>
            </a:r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17BE1FDA-6527-2A60-601F-F9696D2FF0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CA24C5A-697F-47A3-B1E8-D2B8580F480F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3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F9C3F84-68E8-5BC9-D3EA-A4E83441D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225" y="242888"/>
            <a:ext cx="7829550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A3B5651D-57B4-613A-CF55-FE0087D8E9C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6CBCB58-9FFB-489C-BD3E-76E00E3D016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4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8D6418-6675-A1A5-A303-1AF4A71C3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5140" y="3205521"/>
            <a:ext cx="27443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3B28-36A6-E640-4F0E-A6A64D06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40" y="1386529"/>
            <a:ext cx="8788860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digital receipts and documents are stored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are vulnerable to hacking, unauthorized access, and single points of failure.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Documents can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forged, duplicated, or altered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proper traceability,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leading to fraud and misuse.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depends entirely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issuing authority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third-party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slow, manual, and unreliable.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permanent, tamper-proof mechanism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prove document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authenticity and rightful ownership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B28DFA0-BAF3-9511-54F6-7C131DB88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4325" y="242888"/>
            <a:ext cx="8172450" cy="430212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OBJECTIVES OF THE PROPOSED SYSTEM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0D7B373C-AEB1-8A08-8406-0A71F7693A0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25FC4D66-5EFB-4784-88D8-F6F477A318D5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5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4600B-EC3C-2BA1-76F7-AA8106B7F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9379"/>
            <a:ext cx="853637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secure, decentralized document verification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blockchain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once a receipt or document is issued,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cannot be modified or deleted.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enable users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claim and prove ownership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documents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cryptographic digital signatures.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allow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and independent third-party verification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relying on a centralized authority.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F286C68-BDE4-2F31-F304-EF3B03F85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200" y="242888"/>
            <a:ext cx="8156575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A617EBBA-A9C6-5497-C19F-740F9A1EF3E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B8AD6AE-FDA6-4415-BD71-6F0A8BE63899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6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809C4-4DFF-54B8-A483-7FE4C8F54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74" y="1158956"/>
            <a:ext cx="7306574" cy="56990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7E04-A874-EABE-97E0-0B3ECB05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4CCC220-169C-034B-3D59-19C98CC33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200" y="242888"/>
            <a:ext cx="8156575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</a:p>
        </p:txBody>
      </p:sp>
      <p:sp>
        <p:nvSpPr>
          <p:cNvPr id="16388" name="Slide Number Placeholder 4">
            <a:extLst>
              <a:ext uri="{FF2B5EF4-FFF2-40B4-BE49-F238E27FC236}">
                <a16:creationId xmlns:a16="http://schemas.microsoft.com/office/drawing/2014/main" id="{6B2B21F1-A725-1989-7263-B519F194C21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B8AD6AE-FDA6-4415-BD71-6F0A8BE63899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7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976AD-86DC-8FA5-C8A5-37C4906F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973" y="1483743"/>
            <a:ext cx="6892505" cy="5374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92D2D4-803D-5F44-0D2C-F1A02275B419}"/>
              </a:ext>
            </a:extLst>
          </p:cNvPr>
          <p:cNvSpPr txBox="1"/>
          <p:nvPr/>
        </p:nvSpPr>
        <p:spPr>
          <a:xfrm>
            <a:off x="2286000" y="1159731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+ Blockchain flow</a:t>
            </a:r>
          </a:p>
        </p:txBody>
      </p:sp>
    </p:spTree>
    <p:extLst>
      <p:ext uri="{BB962C8B-B14F-4D97-AF65-F5344CB8AC3E}">
        <p14:creationId xmlns:p14="http://schemas.microsoft.com/office/powerpoint/2010/main" val="356536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44;p22">
            <a:extLst>
              <a:ext uri="{FF2B5EF4-FFF2-40B4-BE49-F238E27FC236}">
                <a16:creationId xmlns:a16="http://schemas.microsoft.com/office/drawing/2014/main" id="{AC7543BE-6441-DA27-FA9B-70518DD00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 hangingPunct="1">
              <a:buSzPts val="1800"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1267" name="Google Shape;145;p22">
            <a:extLst>
              <a:ext uri="{FF2B5EF4-FFF2-40B4-BE49-F238E27FC236}">
                <a16:creationId xmlns:a16="http://schemas.microsoft.com/office/drawing/2014/main" id="{67F46118-92E4-37E3-3C6B-593D68A30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8438"/>
            <a:ext cx="44958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200"/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288" name="Slide Number Placeholder 1">
            <a:extLst>
              <a:ext uri="{FF2B5EF4-FFF2-40B4-BE49-F238E27FC236}">
                <a16:creationId xmlns:a16="http://schemas.microsoft.com/office/drawing/2014/main" id="{F8AC1B4B-7215-627B-2ABB-A4F4763BD7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886B036-26B5-4D50-A64C-A93FCCA92663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8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C84787-BFE8-E3FE-8E17-9CA53DE86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10696"/>
              </p:ext>
            </p:extLst>
          </p:nvPr>
        </p:nvGraphicFramePr>
        <p:xfrm>
          <a:off x="457200" y="1451309"/>
          <a:ext cx="8199120" cy="4836652"/>
        </p:xfrm>
        <a:graphic>
          <a:graphicData uri="http://schemas.openxmlformats.org/drawingml/2006/table">
            <a:tbl>
              <a:tblPr firstRow="1" bandRow="1">
                <a:tableStyleId>{FE214308-F0E3-4687-BC59-15A1703D4593}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319670080"/>
                    </a:ext>
                  </a:extLst>
                </a:gridCol>
                <a:gridCol w="1297121">
                  <a:extLst>
                    <a:ext uri="{9D8B030D-6E8A-4147-A177-3AD203B41FA5}">
                      <a16:colId xmlns:a16="http://schemas.microsoft.com/office/drawing/2014/main" val="150671913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2352362978"/>
                    </a:ext>
                  </a:extLst>
                </a:gridCol>
                <a:gridCol w="3131574">
                  <a:extLst>
                    <a:ext uri="{9D8B030D-6E8A-4147-A177-3AD203B41FA5}">
                      <a16:colId xmlns:a16="http://schemas.microsoft.com/office/drawing/2014/main" val="158706869"/>
                    </a:ext>
                  </a:extLst>
                </a:gridCol>
              </a:tblGrid>
              <a:tr h="719725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Mode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74547"/>
                  </a:ext>
                </a:extLst>
              </a:tr>
              <a:tr h="1427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integrated blockchain and IPFS-based solution for secure and efficient source code repository hosting using middleman approach 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Md. Rafid Haque, Sakibul Islam Munna, Sabbir Ahmed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–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architecture using IPFS for off-chain storage, Ethereum smart contracts for hash verification, and a middleware layer for encryption and CID management.</a:t>
                      </a:r>
                    </a:p>
                    <a:p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65932"/>
                  </a:ext>
                </a:extLst>
              </a:tr>
              <a:tr h="1262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Security-Oriented Data-Sharing Scheme Based on Blockchain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 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– 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data sharing using smart contracts, ECC encryption, and digital signatures to enforce access control and data integrity.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31130"/>
                  </a:ext>
                </a:extLst>
              </a:tr>
              <a:tr h="1427309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cross-chain model for warehouse receipts in port supply chain based on notary mechanism and 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ShangMi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cryptographic algorithms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Yangbo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Chen, Wei 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ResearchGate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Cross-chain blockchain model with notary mechanism and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ShangMi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cryptographic algorithms for secure receipt verification and transfer.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401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8245-22E8-B67D-145B-803E2010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44;p22">
            <a:extLst>
              <a:ext uri="{FF2B5EF4-FFF2-40B4-BE49-F238E27FC236}">
                <a16:creationId xmlns:a16="http://schemas.microsoft.com/office/drawing/2014/main" id="{35520BC0-533F-3B20-E53D-D97770DA6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 eaLnBrk="1" hangingPunct="1">
              <a:buSzPts val="1800"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1267" name="Google Shape;145;p22">
            <a:extLst>
              <a:ext uri="{FF2B5EF4-FFF2-40B4-BE49-F238E27FC236}">
                <a16:creationId xmlns:a16="http://schemas.microsoft.com/office/drawing/2014/main" id="{5CC17A7D-F774-B222-F017-F3A5F1D4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98438"/>
            <a:ext cx="44958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127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200"/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288" name="Slide Number Placeholder 1">
            <a:extLst>
              <a:ext uri="{FF2B5EF4-FFF2-40B4-BE49-F238E27FC236}">
                <a16:creationId xmlns:a16="http://schemas.microsoft.com/office/drawing/2014/main" id="{B2E0CE02-B609-B1F5-C382-8A262366F2F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886B036-26B5-4D50-A64C-A93FCCA92663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9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BFE76F-D37D-D566-02CC-9B448F7BD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967886"/>
              </p:ext>
            </p:extLst>
          </p:nvPr>
        </p:nvGraphicFramePr>
        <p:xfrm>
          <a:off x="457200" y="1451310"/>
          <a:ext cx="8199120" cy="4718665"/>
        </p:xfrm>
        <a:graphic>
          <a:graphicData uri="http://schemas.openxmlformats.org/drawingml/2006/table">
            <a:tbl>
              <a:tblPr firstRow="1" bandRow="1">
                <a:tableStyleId>{FE214308-F0E3-4687-BC59-15A1703D4593}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3215052477"/>
                    </a:ext>
                  </a:extLst>
                </a:gridCol>
                <a:gridCol w="1297121">
                  <a:extLst>
                    <a:ext uri="{9D8B030D-6E8A-4147-A177-3AD203B41FA5}">
                      <a16:colId xmlns:a16="http://schemas.microsoft.com/office/drawing/2014/main" val="2287158533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3790126088"/>
                    </a:ext>
                  </a:extLst>
                </a:gridCol>
                <a:gridCol w="3131574">
                  <a:extLst>
                    <a:ext uri="{9D8B030D-6E8A-4147-A177-3AD203B41FA5}">
                      <a16:colId xmlns:a16="http://schemas.microsoft.com/office/drawing/2014/main" val="1301533467"/>
                    </a:ext>
                  </a:extLst>
                </a:gridCol>
              </a:tblGrid>
              <a:tr h="691633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and Mode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632596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Blockchain-Enabled Framework for Storage and Retrieval of Social Data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Aishwarya Parab , Prakhar Pradhan , Yogesh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Simmhan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IPFS–blockchain framework with smart contracts for data provenance, access control, and trust management.</a:t>
                      </a:r>
                    </a:p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726460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 Blockchain-Based Protocol for Fair Delivery for Receipts</a:t>
                      </a:r>
                    </a:p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Francisca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Hinarejos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, Josep-Lluis Ferrer-Gomila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2024 - 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contract–based fair exchange protocol using cryptographic commitments and digital signatures to ensure non-repudiation.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809303"/>
                  </a:ext>
                </a:extLst>
              </a:tr>
              <a:tr h="134234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Fair Multi-Party Contract Signing Scheme Based on Off-Chain Protocols and On-Chain Smart Contracts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Rong Jiang  Yulin Li 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Xuetao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  </a:t>
                      </a:r>
                      <a:r>
                        <a:rPr lang="en-IN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Xueke</a:t>
                      </a: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2025 - 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Off-chain signature exchange combined with on-chain smart contract verification and penalty enforcement.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07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62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E2358B7D-A9F2-8846-1C9D-C7D32142B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425" y="242888"/>
            <a:ext cx="8261350" cy="984250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FINDINGS FROM LITERATURE SURVEY</a:t>
            </a:r>
          </a:p>
        </p:txBody>
      </p:sp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E55E4F8B-580C-73FD-C55E-775C7B155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6430" y="1335379"/>
            <a:ext cx="8686800" cy="5755422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Hybrid blockchain architectures dominate recent research, where large data is stored off-chain (mainly using IPFS) and only hashes, metadata, and ownership proofs are maintained on-chain to reduce storage cost and improve scalability.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Smart contracts are widely used for trust automation, enabling receipt issuance, verification, access control, and fair exchange without relying on centralized authorities or trusted third parties.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Cryptographic mechanisms are central to security, with most systems employing digital signatures, hash-based verification, and encryption to ensure data integrity, authenticity, and non-repudiation.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Cross-chain and off-chain optimizations are emerging trends, aiming to improve performance, scalability, and interoperability in complex use cases such as supply chains, multi-party contracts, and decentralized data sharing.</a:t>
            </a:r>
          </a:p>
          <a:p>
            <a:pPr marL="0" lvl="0" indent="0" algn="just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A9FBEAEA-988F-1841-AE71-CEDC3B4CC9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64A31346-9884-43C8-8DC6-598AAF16EB3A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10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CDBF7B6-32A0-020D-1390-5D12AB8E76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CD19C232-0C9F-5F99-C477-856EA7704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2982" y="1526217"/>
            <a:ext cx="2337758" cy="307777"/>
          </a:xfrm>
        </p:spPr>
        <p:txBody>
          <a:bodyPr/>
          <a:lstStyle/>
          <a:p>
            <a:pPr marL="228600" indent="0"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Company Page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15AA8244-B1FF-022C-2BA8-B43FAF75484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11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8BEB1-3A28-5517-7616-F4A8E114E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30" y="2107976"/>
            <a:ext cx="7419664" cy="39509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BF1E-6B2D-FD3A-143D-E16F9ED3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8FC4831-E98C-694D-1F0A-0C2D192F0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C1876C95-3782-7AAD-0964-C3CAEFFBE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77975"/>
            <a:ext cx="8480425" cy="1231106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0D145151-2C52-DDA9-66B8-D3051765E6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12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25409-C3C6-0307-1476-09AAB4E6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03" y="1946952"/>
            <a:ext cx="8036197" cy="4203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BE768-3F8B-5DBE-A686-AEFA4D5D84A0}"/>
              </a:ext>
            </a:extLst>
          </p:cNvPr>
          <p:cNvSpPr txBox="1"/>
          <p:nvPr/>
        </p:nvSpPr>
        <p:spPr>
          <a:xfrm>
            <a:off x="1785668" y="142408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algn="ctr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User Page </a:t>
            </a:r>
          </a:p>
        </p:txBody>
      </p:sp>
    </p:spTree>
    <p:extLst>
      <p:ext uri="{BB962C8B-B14F-4D97-AF65-F5344CB8AC3E}">
        <p14:creationId xmlns:p14="http://schemas.microsoft.com/office/powerpoint/2010/main" val="2123753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7C4C3-2AA9-6599-9715-D4F7B3C2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89C62318-AE43-E2B3-F05E-60A20E045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D110B732-B23C-B51E-BC39-A46F39928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1773" y="1094895"/>
            <a:ext cx="1881547" cy="615553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b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User Receipts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C77A9803-5D4C-19F9-D67B-CBD768ACED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13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84553-C36D-EED5-438F-B9F5C038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544" y="1906438"/>
            <a:ext cx="6573328" cy="455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1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5706-1DC6-029D-3C97-FDE2AE10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C8A944A-A053-F17E-0945-7A93C024F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E64F81DA-79A1-8ECD-16A3-9D1B41FD5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0401" y="1309967"/>
            <a:ext cx="1647645" cy="307777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Claim Link 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1F5F508D-6DC6-1615-ED0C-0B0F35F26E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14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4B736-46D5-9E5A-4A27-303EA8902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39" y="1714727"/>
            <a:ext cx="8553321" cy="1714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42B32-4AA3-5B72-A3A4-4BD94285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3" y="3981526"/>
            <a:ext cx="8036553" cy="2568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812F12-0AD8-F3D0-B4EB-AF2D8B0729F4}"/>
              </a:ext>
            </a:extLst>
          </p:cNvPr>
          <p:cNvSpPr txBox="1"/>
          <p:nvPr/>
        </p:nvSpPr>
        <p:spPr>
          <a:xfrm>
            <a:off x="3398808" y="3551374"/>
            <a:ext cx="1552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IPFS Page </a:t>
            </a:r>
          </a:p>
        </p:txBody>
      </p:sp>
    </p:spTree>
    <p:extLst>
      <p:ext uri="{BB962C8B-B14F-4D97-AF65-F5344CB8AC3E}">
        <p14:creationId xmlns:p14="http://schemas.microsoft.com/office/powerpoint/2010/main" val="163529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0989-89FE-AC39-BEAD-2E0ADF4D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64137D1-C8AB-BE09-F1E1-2F77F737C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4013" y="242888"/>
            <a:ext cx="813276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</a:t>
            </a:r>
            <a:r>
              <a:rPr lang="en-I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ESULTS </a:t>
            </a:r>
          </a:p>
        </p:txBody>
      </p:sp>
      <p:sp>
        <p:nvSpPr>
          <p:cNvPr id="15363" name="Text Placeholder 2">
            <a:extLst>
              <a:ext uri="{FF2B5EF4-FFF2-40B4-BE49-F238E27FC236}">
                <a16:creationId xmlns:a16="http://schemas.microsoft.com/office/drawing/2014/main" id="{2CECCCF0-87D5-E23F-063E-05353B6E0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57268" y="1445691"/>
            <a:ext cx="2639683" cy="307777"/>
          </a:xfrm>
        </p:spPr>
        <p:txBody>
          <a:bodyPr/>
          <a:lstStyle/>
          <a:p>
            <a:pPr marL="228600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Receipt Verification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3435DCDB-F9B8-64ED-DF62-8C2E2B3BD9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8DFD9901-D36D-4683-B439-D1C767167CA8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15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F93DC-2FA6-A6FD-01A6-48490112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3" y="2054081"/>
            <a:ext cx="7790993" cy="41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6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1791-E3DB-0E2A-8A0E-67D7D3F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</p:spPr>
        <p:txBody>
          <a:bodyPr/>
          <a:lstStyle/>
          <a:p>
            <a:r>
              <a:rPr lang="en-IN" dirty="0"/>
              <a:t>FEATURES TO BE ADDED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CFEDB-D0EA-EC86-D4A1-18CCD51FC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029472" cy="5170646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BLOCKCHAIN STRUCTURE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pays gas for the transaction to be added into the chain.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Upgraded model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Company pays gas for all transactions. For cost efficiency, all transactions are added into a Merkle tree. Using Merkle Tree also allows this model to be highly scalable. Receipt is claimed by using Merkle proof.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ISSUER REGISTRY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must register their public addresses. Only registered companies are accepted.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anyone from pretending to be a company.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TRANSFER</a:t>
            </a:r>
          </a:p>
          <a:p>
            <a:pPr marL="228600" indent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user receipt ownership at times of resale, gift</a:t>
            </a:r>
          </a:p>
          <a:p>
            <a:pPr marL="228600" indent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BASE CLAIM PROTECTION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claim link leaks, anyone can claim first. So, use OTP to authenticate a user.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USERS AND COMPANIES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C8186-F906-3CF7-831A-AC88F2F3A016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AE78E05-B16B-4A6A-87CA-B7EE64BB48C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46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977E5C3-39E4-0CE5-EC20-A1C0E5717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63" y="242888"/>
            <a:ext cx="8240712" cy="49212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REFERENCES</a:t>
            </a:r>
            <a:endParaRPr lang="en-I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411" name="Text Placeholder 2">
            <a:extLst>
              <a:ext uri="{FF2B5EF4-FFF2-40B4-BE49-F238E27FC236}">
                <a16:creationId xmlns:a16="http://schemas.microsoft.com/office/drawing/2014/main" id="{42F650B1-E2A1-1C3F-F8D9-9AE6E10E6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50303"/>
            <a:ext cx="8518849" cy="5309146"/>
          </a:xfrm>
        </p:spPr>
        <p:txBody>
          <a:bodyPr/>
          <a:lstStyle/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Haque MR, Islam Munna S, Ahmed S, Islam MT, Hassan Onik MM, Rahman AA (2025) An integrated blockchain and IPFS-based solution for secure and efficient source code repository hosting using middleman approach.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20(9): e0331131. </a:t>
            </a:r>
          </a:p>
          <a:p>
            <a:pPr marL="228600" indent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Manzoor, A.;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Braeken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A.; Kanhere, S.S.;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Ylianttila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Liyanage, M. Proxy Re-Encryption Enabled Secure and Anonymous IoT Data Sharing Platform Based on Blockchain.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102917.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Riazi, M. et al. Design, simulation and feasibility of the innovative agricultural warehouse receipt system through dynamic programming and agent-based models. Sci. Rep. 14, 23182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Jamil, A., Iqbal, N., Khan, A. &amp; Kim, T. H. A systematic review of blockchain technology for government information sharing. 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Mater. Contin.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1799–1818. 10.32604/cmc.2023.049856 (2023)</a:t>
            </a: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514350" indent="-28575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Puigserver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Payeras-Capellà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M.M.; Cabot-Nadal, M.A. Blockchain-based fair certified notifications. In Proceedings of the Data Privacy Management, Cryptocurrencies and Blockchain Technology: ESORICS 2018 International Workshops, DPM 2018 and CBT2018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106B76D-F426-091E-D393-1995E46B11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D47BBD6-97BE-407A-AF65-481C0C9BB281}" type="slidenum">
              <a:rPr lang="en-US" altLang="en-US"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17</a:t>
            </a:fld>
            <a:endParaRPr lang="en-US" altLang="en-US" sz="1800">
              <a:solidFill>
                <a:srgbClr val="888888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DE8A99E6-8A0F-4784-9EF9-0F6C90A4D7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7993B5AA-20CD-43BE-B2BE-FCB49A2FA4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1140</Words>
  <Application>Microsoft Office PowerPoint</Application>
  <PresentationFormat>On-screen Show (4:3)</PresentationFormat>
  <Paragraphs>149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Office Theme</vt:lpstr>
      <vt:lpstr>Digital Receipt Vault   using Blockchain and IPFS</vt:lpstr>
      <vt:lpstr>AGENDA</vt:lpstr>
      <vt:lpstr>INTRODUCTION</vt:lpstr>
      <vt:lpstr>PROBLEM STATEMENT</vt:lpstr>
      <vt:lpstr>OBJECTIVES OF THE PROPOSED SYSTEM</vt:lpstr>
      <vt:lpstr>ARCHITECTURE</vt:lpstr>
      <vt:lpstr>ARCHITECTURE</vt:lpstr>
      <vt:lpstr>PowerPoint Presentation</vt:lpstr>
      <vt:lpstr>PowerPoint Presentation</vt:lpstr>
      <vt:lpstr>FINDINGS FROM LITERATURE SURVEY</vt:lpstr>
      <vt:lpstr>RESULTS </vt:lpstr>
      <vt:lpstr>RESULTS </vt:lpstr>
      <vt:lpstr>RESULTS </vt:lpstr>
      <vt:lpstr>RESULTS </vt:lpstr>
      <vt:lpstr>RESULTS </vt:lpstr>
      <vt:lpstr>FEATURES TO BE ADDED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sangeetha mariammal</dc:creator>
  <cp:lastModifiedBy>Sanjay S M</cp:lastModifiedBy>
  <cp:revision>24</cp:revision>
  <dcterms:modified xsi:type="dcterms:W3CDTF">2026-02-17T17:46:22Z</dcterms:modified>
</cp:coreProperties>
</file>